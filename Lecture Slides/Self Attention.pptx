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</p:sldIdLst>
  <p:sldSz cy="5143500" cx="9144000"/>
  <p:notesSz cx="6858000" cy="9144000"/>
  <p:embeddedFontLst>
    <p:embeddedFont>
      <p:font typeface="Roboto Mono"/>
      <p:regular r:id="rId52"/>
      <p:bold r:id="rId53"/>
      <p:italic r:id="rId54"/>
      <p:boldItalic r:id="rId5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094710C-030D-4677-A650-F1D908CD37EA}">
  <a:tblStyle styleId="{7094710C-030D-4677-A650-F1D908CD37E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font" Target="fonts/RobotoMono-bold.fntdata"/><Relationship Id="rId52" Type="http://schemas.openxmlformats.org/officeDocument/2006/relationships/font" Target="fonts/RobotoMono-regular.fntdata"/><Relationship Id="rId11" Type="http://schemas.openxmlformats.org/officeDocument/2006/relationships/slide" Target="slides/slide5.xml"/><Relationship Id="rId55" Type="http://schemas.openxmlformats.org/officeDocument/2006/relationships/font" Target="fonts/RobotoMono-boldItalic.fntdata"/><Relationship Id="rId10" Type="http://schemas.openxmlformats.org/officeDocument/2006/relationships/slide" Target="slides/slide4.xml"/><Relationship Id="rId54" Type="http://schemas.openxmlformats.org/officeDocument/2006/relationships/font" Target="fonts/RobotoMono-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e6dd07260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e6dd07260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e6dd07260f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e6dd07260f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e6dd07260f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e6dd07260f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e6dd07260f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e6dd07260f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e6dd07260f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e6dd07260f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e78c1bc5d3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e78c1bc5d3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e78c1bc5d3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e78c1bc5d3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e78c1bc5d3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e78c1bc5d3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e78c1bc5d3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e78c1bc5d3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e78c1bc5d3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e78c1bc5d3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e78c1bc5d3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e78c1bc5d3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e78c1bc5d3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e78c1bc5d3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e78c1bc5d3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e78c1bc5d3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e78c1bc5d3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e78c1bc5d3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e78c1bc5d3_0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e78c1bc5d3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e78c1bc5d3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e78c1bc5d3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e78eb68e04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e78eb68e04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e78eb68e04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e78eb68e04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e78eb68e04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e78eb68e04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e78eb68e04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e78eb68e04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e78eb68e04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3e78eb68e04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e78eb68e04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3e78eb68e04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e78eb68e04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3e78eb68e04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e78eb68e04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3e78eb68e04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e78eb68e04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3e78eb68e04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e78eb68e04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3e78eb68e04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bd0939d2a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3dbd0939d2a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dbd0939d2a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3dbd0939d2a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dbd0939d2a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3dbd0939d2a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dbd0939d2a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3dbd0939d2a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dbd0939d2a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3dbd0939d2a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dd9a0c98c9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3dd9a0c98c9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dd9a0c98c9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" name="Google Shape;276;g3dd9a0c98c9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3dd9a0c98c9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3dd9a0c98c9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dd9a0c98c9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3dd9a0c98c9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3dd9a0c98c9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3dd9a0c98c9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3dd9a0c98c9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" name="Google Shape;300;g3dd9a0c98c9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3dd9a0c98c9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3dd9a0c98c9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3dd9a0c98c9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2" name="Google Shape;312;g3dd9a0c98c9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dd9a0c98c9_0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3dd9a0c98c9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3dd9a0c98c9_0_1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3dd9a0c98c9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3dd9a0c98c9_0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3dd9a0c98c9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3dd9a0c98c9_0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6" name="Google Shape;336;g3dd9a0c98c9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3e7b1cc8be8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3e7b1cc8be8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proceedings.neurips.cc/paper_files/paper/2017/file/3f5ee243547dee91fbd053c1c4a845aa-Paper.pdf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5.png"/><Relationship Id="rId6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Encoder-Decoder Architecture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CSE 427</a:t>
            </a:r>
            <a:endParaRPr/>
          </a:p>
        </p:txBody>
      </p:sp>
      <p:sp>
        <p:nvSpPr>
          <p:cNvPr id="56" name="Google Shape;56;p13"/>
          <p:cNvSpPr txBox="1"/>
          <p:nvPr/>
        </p:nvSpPr>
        <p:spPr>
          <a:xfrm>
            <a:off x="5230200" y="4797900"/>
            <a:ext cx="3913800" cy="34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Reference: </a:t>
            </a:r>
            <a:r>
              <a:rPr lang="en" sz="1800" u="sng">
                <a:solidFill>
                  <a:schemeClr val="hlink"/>
                </a:solidFill>
                <a:hlinkClick r:id="rId3"/>
              </a:rPr>
              <a:t>Attention Is All You Need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 far What we have</a:t>
            </a:r>
            <a:endParaRPr/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152475"/>
            <a:ext cx="8520600" cy="278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have word embedding summed with positional encoding.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Still not enough!!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We still </a:t>
            </a:r>
            <a:r>
              <a:rPr lang="en"/>
              <a:t>don't</a:t>
            </a:r>
            <a:r>
              <a:rPr lang="en"/>
              <a:t> have contextual information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Like, look at the following sentence:</a:t>
            </a:r>
            <a:br>
              <a:rPr lang="en"/>
            </a:br>
            <a:r>
              <a:rPr lang="en"/>
              <a:t>“A fluffy blue </a:t>
            </a:r>
            <a:r>
              <a:rPr b="1" lang="en">
                <a:highlight>
                  <a:schemeClr val="accent6"/>
                </a:highlight>
              </a:rPr>
              <a:t>creature</a:t>
            </a:r>
            <a:r>
              <a:rPr lang="en"/>
              <a:t>”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Focus on the word </a:t>
            </a:r>
            <a:r>
              <a:rPr b="1" lang="en"/>
              <a:t>creature</a:t>
            </a:r>
            <a:r>
              <a:rPr lang="en"/>
              <a:t>. After word embedding it still has a generic representation. When we incorporate the impact of fluffy and blue, maybe we get a representation of</a:t>
            </a:r>
            <a:endParaRPr/>
          </a:p>
        </p:txBody>
      </p:sp>
      <p:pic>
        <p:nvPicPr>
          <p:cNvPr id="63" name="Google Shape;6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48325" y="3937975"/>
            <a:ext cx="1149124" cy="1149126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4"/>
          <p:cNvSpPr/>
          <p:nvPr/>
        </p:nvSpPr>
        <p:spPr>
          <a:xfrm rot="5400000">
            <a:off x="8394300" y="3499975"/>
            <a:ext cx="381600" cy="494400"/>
          </a:xfrm>
          <a:prstGeom prst="bentArrow">
            <a:avLst>
              <a:gd fmla="val 25000" name="adj1"/>
              <a:gd fmla="val 25000" name="adj2"/>
              <a:gd fmla="val 25000" name="adj3"/>
              <a:gd fmla="val 43750" name="adj4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4"/>
          <p:cNvSpPr/>
          <p:nvPr/>
        </p:nvSpPr>
        <p:spPr>
          <a:xfrm>
            <a:off x="4283575" y="1543350"/>
            <a:ext cx="4548744" cy="1366200"/>
          </a:xfrm>
          <a:prstGeom prst="clou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6" name="Google Shape;66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38575" y="1965699"/>
            <a:ext cx="926201" cy="521506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14"/>
          <p:cNvPicPr preferRelativeResize="0"/>
          <p:nvPr/>
        </p:nvPicPr>
        <p:blipFill rotWithShape="1">
          <a:blip r:embed="rId5">
            <a:alphaModFix/>
          </a:blip>
          <a:srcRect b="0" l="9625" r="0" t="0"/>
          <a:stretch/>
        </p:blipFill>
        <p:spPr>
          <a:xfrm>
            <a:off x="5897300" y="1900225"/>
            <a:ext cx="1080097" cy="797150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4"/>
          <p:cNvSpPr/>
          <p:nvPr/>
        </p:nvSpPr>
        <p:spPr>
          <a:xfrm>
            <a:off x="8196450" y="2377600"/>
            <a:ext cx="777300" cy="821100"/>
          </a:xfrm>
          <a:prstGeom prst="bentUpArrow">
            <a:avLst>
              <a:gd fmla="val 25000" name="adj1"/>
              <a:gd fmla="val 25000" name="adj2"/>
              <a:gd fmla="val 25000" name="adj3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9" name="Google Shape;69;p1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123827" y="1870147"/>
            <a:ext cx="926201" cy="6170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Self Attention</a:t>
            </a:r>
            <a:endParaRPr/>
          </a:p>
        </p:txBody>
      </p:sp>
      <p:sp>
        <p:nvSpPr>
          <p:cNvPr id="75" name="Google Shape;75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self-attention produces a new, context-aware embedding that is a blend of information from all other words (Including itself)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6" name="Google Shape;76;p15" title="Screenshot 2026-05-01 at 6.15.25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80138" y="2020828"/>
            <a:ext cx="5383726" cy="24813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Query, Key and Value</a:t>
            </a:r>
            <a:endParaRPr/>
          </a:p>
        </p:txBody>
      </p:sp>
      <p:sp>
        <p:nvSpPr>
          <p:cNvPr id="82" name="Google Shape;82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This is the heart of self-attention. The paper introduces three vectors for each token: Query (Q), Key (K), and Value (V).</a:t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/>
              <a:t>The Analogy: A Library Search System</a:t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83" name="Google Shape;83;p16"/>
          <p:cNvGraphicFramePr/>
          <p:nvPr/>
        </p:nvGraphicFramePr>
        <p:xfrm>
          <a:off x="381875" y="2306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{7094710C-030D-4677-A650-F1D908CD37EA}</a:tableStyleId>
              </a:tblPr>
              <a:tblGrid>
                <a:gridCol w="961050"/>
                <a:gridCol w="3188875"/>
                <a:gridCol w="4157975"/>
              </a:tblGrid>
              <a:tr h="5211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Self-Attention Role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Library Analogy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011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Query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What the current word is "looking for."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Your search query: "I want a book about cats"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211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Key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 label that describes what information this word "offers." in terms to the question context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Each book's index card / catalog entry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011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Value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The actual information the word contains, which will be extracted if the Query matches the Key.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The actual content of the book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Self Attention process for library</a:t>
            </a:r>
            <a:endParaRPr/>
          </a:p>
        </p:txBody>
      </p:sp>
      <p:sp>
        <p:nvSpPr>
          <p:cNvPr id="89" name="Google Shape;89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You bring your </a:t>
            </a:r>
            <a:r>
              <a:rPr b="1" lang="en">
                <a:solidFill>
                  <a:schemeClr val="dk1"/>
                </a:solidFill>
              </a:rPr>
              <a:t>Query</a:t>
            </a:r>
            <a:r>
              <a:rPr lang="en">
                <a:solidFill>
                  <a:schemeClr val="dk1"/>
                </a:solidFill>
              </a:rPr>
              <a:t> (what you're looking for)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Each book has a </a:t>
            </a:r>
            <a:r>
              <a:rPr b="1" lang="en">
                <a:solidFill>
                  <a:schemeClr val="dk1"/>
                </a:solidFill>
              </a:rPr>
              <a:t>Key</a:t>
            </a:r>
            <a:r>
              <a:rPr lang="en">
                <a:solidFill>
                  <a:schemeClr val="dk1"/>
                </a:solidFill>
              </a:rPr>
              <a:t> (a description of what it contains)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You compare your Query with every Key → this gives a </a:t>
            </a:r>
            <a:r>
              <a:rPr b="1" lang="en">
                <a:solidFill>
                  <a:schemeClr val="dk1"/>
                </a:solidFill>
              </a:rPr>
              <a:t>relevance score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Books with high relevance scores give you more of their </a:t>
            </a:r>
            <a:r>
              <a:rPr b="1" lang="en">
                <a:solidFill>
                  <a:schemeClr val="dk1"/>
                </a:solidFill>
              </a:rPr>
              <a:t>Value</a:t>
            </a:r>
            <a:r>
              <a:rPr lang="en">
                <a:solidFill>
                  <a:schemeClr val="dk1"/>
                </a:solidFill>
              </a:rPr>
              <a:t> (content)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You get back a </a:t>
            </a:r>
            <a:r>
              <a:rPr b="1" lang="en">
                <a:solidFill>
                  <a:schemeClr val="dk1"/>
                </a:solidFill>
              </a:rPr>
              <a:t>weighted blend</a:t>
            </a:r>
            <a:r>
              <a:rPr lang="en">
                <a:solidFill>
                  <a:schemeClr val="dk1"/>
                </a:solidFill>
              </a:rPr>
              <a:t> of all book values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Encoder-Decoder Architecture </a:t>
            </a:r>
            <a:endParaRPr/>
          </a:p>
        </p:txBody>
      </p:sp>
      <p:sp>
        <p:nvSpPr>
          <p:cNvPr id="95" name="Google Shape;95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The Transformer was originally designed as a </a:t>
            </a:r>
            <a:r>
              <a:rPr b="1" lang="en" sz="1500">
                <a:solidFill>
                  <a:schemeClr val="dk1"/>
                </a:solidFill>
              </a:rPr>
              <a:t>sequence-to-sequence</a:t>
            </a:r>
            <a:r>
              <a:rPr lang="en" sz="1500">
                <a:solidFill>
                  <a:schemeClr val="dk1"/>
                </a:solidFill>
              </a:rPr>
              <a:t> model. Given an input sentence, it produces an output sentence - possibly in a different language, length, or structure.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Input (English): "Let's go" Output (Spanish): 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"Vamos" ← generated one token at a time</a:t>
            </a:r>
            <a:endParaRPr sz="15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Two-Part Architecture</a:t>
            </a:r>
            <a:endParaRPr/>
          </a:p>
        </p:txBody>
      </p:sp>
      <p:sp>
        <p:nvSpPr>
          <p:cNvPr id="101" name="Google Shape;101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</a:rPr>
              <a:t>Encoder</a:t>
            </a:r>
            <a:r>
              <a:rPr lang="en" sz="1400">
                <a:solidFill>
                  <a:schemeClr val="dk1"/>
                </a:solidFill>
              </a:rPr>
              <a:t>: Reads the entire input sentence and produces a </a:t>
            </a:r>
            <a:r>
              <a:rPr b="1" lang="en" sz="1400">
                <a:solidFill>
                  <a:schemeClr val="dk1"/>
                </a:solidFill>
              </a:rPr>
              <a:t>rich contextual representation</a:t>
            </a:r>
            <a:r>
              <a:rPr lang="en" sz="1400">
                <a:solidFill>
                  <a:schemeClr val="dk1"/>
                </a:solidFill>
              </a:rPr>
              <a:t> of each word. It runs </a:t>
            </a:r>
            <a:r>
              <a:rPr b="1" lang="en" sz="1400">
                <a:solidFill>
                  <a:schemeClr val="dk1"/>
                </a:solidFill>
              </a:rPr>
              <a:t>once</a:t>
            </a:r>
            <a:r>
              <a:rPr lang="en" sz="1400">
                <a:solidFill>
                  <a:schemeClr val="dk1"/>
                </a:solidFill>
              </a:rPr>
              <a:t> and its output (the memory) is reused by the decoder for every step.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Decoder</a:t>
            </a:r>
            <a:r>
              <a:rPr lang="en" sz="1300">
                <a:solidFill>
                  <a:schemeClr val="dk1"/>
                </a:solidFill>
              </a:rPr>
              <a:t>: Generates the output sentence </a:t>
            </a:r>
            <a:r>
              <a:rPr b="1" lang="en" sz="1300">
                <a:solidFill>
                  <a:schemeClr val="dk1"/>
                </a:solidFill>
              </a:rPr>
              <a:t>one token at a time</a:t>
            </a:r>
            <a:r>
              <a:rPr lang="en" sz="1300">
                <a:solidFill>
                  <a:schemeClr val="dk1"/>
                </a:solidFill>
              </a:rPr>
              <a:t>, in an autoregressive fashion. At each step it uses: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lang="en" sz="1300">
                <a:solidFill>
                  <a:schemeClr val="dk1"/>
                </a:solidFill>
              </a:rPr>
              <a:t>What it has generated so far (via self-attention)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lang="en" sz="1300">
                <a:solidFill>
                  <a:schemeClr val="dk1"/>
                </a:solidFill>
              </a:rPr>
              <a:t>The full encoder output (via cross-attention)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Decoder’s Autoregressive Loop</a:t>
            </a:r>
            <a:endParaRPr/>
          </a:p>
        </p:txBody>
      </p:sp>
      <p:sp>
        <p:nvSpPr>
          <p:cNvPr id="107" name="Google Shape;107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 1: Decoder receives &lt;EOS&gt; (start token) → generates "Vamos"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Step 2: Decoder receives &lt;EOS&gt;, "Vamos" → generates "y"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Step 3: Decoder receives &lt;EOS&gt;, "Vamos", "y" → generates &lt;EOS&gt; (end token → stop!)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Each generated word is fed back into the decoder as input for the next step. This is </a:t>
            </a:r>
            <a:r>
              <a:rPr b="1" lang="en" sz="1600">
                <a:solidFill>
                  <a:schemeClr val="dk1"/>
                </a:solidFill>
              </a:rPr>
              <a:t>autoregressive generation</a:t>
            </a:r>
            <a:endParaRPr sz="23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 Types of </a:t>
            </a:r>
            <a:r>
              <a:rPr lang="en"/>
              <a:t>Attention In</a:t>
            </a:r>
            <a:r>
              <a:rPr lang="en"/>
              <a:t> Seq-to-Seq</a:t>
            </a:r>
            <a:endParaRPr/>
          </a:p>
        </p:txBody>
      </p:sp>
      <p:sp>
        <p:nvSpPr>
          <p:cNvPr id="113" name="Google Shape;113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14" name="Google Shape;114;p21"/>
          <p:cNvGraphicFramePr/>
          <p:nvPr/>
        </p:nvGraphicFramePr>
        <p:xfrm>
          <a:off x="462250" y="1777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{7094710C-030D-4677-A650-F1D908CD37EA}</a:tableStyleId>
              </a:tblPr>
              <a:tblGrid>
                <a:gridCol w="1915600"/>
                <a:gridCol w="1432425"/>
                <a:gridCol w="1674000"/>
                <a:gridCol w="1674000"/>
                <a:gridCol w="1674000"/>
              </a:tblGrid>
              <a:tr h="469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Type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Where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Query Source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Key, Value Source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Can see</a:t>
                      </a:r>
                      <a:endParaRPr sz="16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Encoder Self-Attention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Encoder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</a:rPr>
                        <a:t>Encoder Tokens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</a:rPr>
                        <a:t>Encoder Tokens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All input tokens (both directions)</a:t>
                      </a:r>
                      <a:endParaRPr sz="16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Decoder Self-Attention (Masked)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Decoder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Decoder Tokens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</a:rPr>
                        <a:t>Decoder Tokens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Only past + current tokens (NOT future)</a:t>
                      </a:r>
                      <a:endParaRPr sz="16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</a:rPr>
                        <a:t>Cross-Attention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Decoder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</a:rPr>
                        <a:t>Decoder</a:t>
                      </a:r>
                      <a:r>
                        <a:rPr lang="en" sz="1600">
                          <a:solidFill>
                            <a:schemeClr val="dk1"/>
                          </a:solidFill>
                        </a:rPr>
                        <a:t> Tokens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</a:rPr>
                        <a:t>Encoder</a:t>
                      </a:r>
                      <a:r>
                        <a:rPr lang="en" sz="1600">
                          <a:solidFill>
                            <a:schemeClr val="dk1"/>
                          </a:solidFill>
                        </a:rPr>
                        <a:t> Tokens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All encoder tokens</a:t>
                      </a:r>
                      <a:endParaRPr sz="16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Deep Dive into an End to End Seq-to-Seq Task</a:t>
            </a:r>
            <a:endParaRPr/>
          </a:p>
        </p:txBody>
      </p:sp>
      <p:sp>
        <p:nvSpPr>
          <p:cNvPr id="120" name="Google Shape;120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task we are dealing with is a translation task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We Translate “Let’s go” (English Sequence) to “Vamos y”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Encoder</a:t>
            </a:r>
            <a:endParaRPr/>
          </a:p>
        </p:txBody>
      </p:sp>
      <p:sp>
        <p:nvSpPr>
          <p:cNvPr id="126" name="Google Shape;126;p23"/>
          <p:cNvSpPr txBox="1"/>
          <p:nvPr>
            <p:ph idx="1" type="body"/>
          </p:nvPr>
        </p:nvSpPr>
        <p:spPr>
          <a:xfrm>
            <a:off x="311700" y="1152475"/>
            <a:ext cx="36504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Let's → embedding = [1.87, 0.09]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 → embedding = [-2.521</a:t>
            </a:r>
            <a:r>
              <a:rPr lang="en"/>
              <a:t>,</a:t>
            </a:r>
            <a:r>
              <a:rPr lang="en"/>
              <a:t> 0.13]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PE(pos=0, dim=0) = sin(0) = 0.0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PE(pos=0, dim=1) = cos(0) = 1.0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PE(pos=1, dim=0) ≈ 0.841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PE(pos=1, dim=1) ≈ 0.540</a:t>
            </a:r>
            <a:endParaRPr/>
          </a:p>
        </p:txBody>
      </p:sp>
      <p:sp>
        <p:nvSpPr>
          <p:cNvPr id="127" name="Google Shape;127;p23"/>
          <p:cNvSpPr txBox="1"/>
          <p:nvPr/>
        </p:nvSpPr>
        <p:spPr>
          <a:xfrm>
            <a:off x="4388050" y="1559125"/>
            <a:ext cx="4492500" cy="277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Adding positional encoding to embeddings: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Let's (pos=0): [1.87, 0.09] + [0.0, 1.0] = [1.87, 1.09]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go (pos=1): [</a:t>
            </a:r>
            <a:r>
              <a:rPr lang="en" sz="1800">
                <a:solidFill>
                  <a:schemeClr val="dk2"/>
                </a:solidFill>
              </a:rPr>
              <a:t>-2.521</a:t>
            </a:r>
            <a:r>
              <a:rPr lang="en" sz="1800">
                <a:solidFill>
                  <a:schemeClr val="dk2"/>
                </a:solidFill>
              </a:rPr>
              <a:t>, 0.13] + [0.841, 0.540] = [-1.68, 0.67]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Compute Q, K, V (Encoder Self-Attention)</a:t>
            </a:r>
            <a:endParaRPr/>
          </a:p>
        </p:txBody>
      </p:sp>
      <p:sp>
        <p:nvSpPr>
          <p:cNvPr id="133" name="Google Shape;133;p24"/>
          <p:cNvSpPr txBox="1"/>
          <p:nvPr>
            <p:ph idx="1" type="body"/>
          </p:nvPr>
        </p:nvSpPr>
        <p:spPr>
          <a:xfrm>
            <a:off x="191150" y="11364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W_Q =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W_K =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W_V =  </a:t>
            </a:r>
            <a:endParaRPr/>
          </a:p>
        </p:txBody>
      </p:sp>
      <p:graphicFrame>
        <p:nvGraphicFramePr>
          <p:cNvPr id="134" name="Google Shape;134;p24"/>
          <p:cNvGraphicFramePr/>
          <p:nvPr/>
        </p:nvGraphicFramePr>
        <p:xfrm>
          <a:off x="1072750" y="12665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{7094710C-030D-4677-A650-F1D908CD37EA}</a:tableStyleId>
              </a:tblPr>
              <a:tblGrid>
                <a:gridCol w="601750"/>
                <a:gridCol w="601750"/>
              </a:tblGrid>
              <a:tr h="404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20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-2.8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2.4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35" name="Google Shape;135;p24"/>
          <p:cNvGraphicFramePr/>
          <p:nvPr/>
        </p:nvGraphicFramePr>
        <p:xfrm>
          <a:off x="1072750" y="2214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{7094710C-030D-4677-A650-F1D908CD37EA}</a:tableStyleId>
              </a:tblPr>
              <a:tblGrid>
                <a:gridCol w="601750"/>
                <a:gridCol w="601750"/>
              </a:tblGrid>
              <a:tr h="320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-1.7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0.5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20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-1.5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0.9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36" name="Google Shape;136;p24"/>
          <p:cNvGraphicFramePr/>
          <p:nvPr/>
        </p:nvGraphicFramePr>
        <p:xfrm>
          <a:off x="1072750" y="3154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{7094710C-030D-4677-A650-F1D908CD37EA}</a:tableStyleId>
              </a:tblPr>
              <a:tblGrid>
                <a:gridCol w="601750"/>
                <a:gridCol w="601750"/>
              </a:tblGrid>
              <a:tr h="320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20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-0.3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-0.2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37" name="Google Shape;137;p24"/>
          <p:cNvSpPr txBox="1"/>
          <p:nvPr/>
        </p:nvSpPr>
        <p:spPr>
          <a:xfrm>
            <a:off x="3809425" y="2324425"/>
            <a:ext cx="2957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Rules on Dimension??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Computing Query</a:t>
            </a:r>
            <a:endParaRPr/>
          </a:p>
        </p:txBody>
      </p:sp>
      <p:sp>
        <p:nvSpPr>
          <p:cNvPr id="143" name="Google Shape;143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Q_Let's = [1.87, 1.09] · W_Q 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          = [ (1.87×1.1 + 1.09×(-2.8)) , (1.87×0.6 + 1.09×2.4)] = [-1.0, 3.7]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Q_go = [-1.68, 0.67] · W_Q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          = [(-1.68×1.1 + 0.67×(-2.8)) , (-1.68×0.6 + 0.67×2.4)] = [-3.7, 0.6]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Computing Key</a:t>
            </a:r>
            <a:endParaRPr/>
          </a:p>
        </p:txBody>
      </p:sp>
      <p:sp>
        <p:nvSpPr>
          <p:cNvPr id="149" name="Google Shape;149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K_Let's = [1.87, 1.09] · W_K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          = [(1.87×(-1.7) + 1.09×(-1.5)) , (1.87×0.5 + 1.09×0.9)] = [-4.7, 1.9]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K_go = [-1.68, 0.67] · W_K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         = [(-1.68×(-1.7) + 0.67×(-1.5)) , (-1.68×0.5 + 0.67×0.9)] = [1.9, -0.2]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Computing Value</a:t>
            </a:r>
            <a:r>
              <a:rPr lang="en"/>
              <a:t> </a:t>
            </a:r>
            <a:endParaRPr/>
          </a:p>
        </p:txBody>
      </p:sp>
      <p:sp>
        <p:nvSpPr>
          <p:cNvPr id="155" name="Google Shape;155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V_Let's = [1.87, 1.09] · W_V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          = [(1.87×1.5 + 1.09×(-0.3)) + (1.87×(-1.0) + 1.09×(-0.2))] = [2.5, -2.1]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V_go = [-1.68, 0.67] · W_V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         = [(-1.68×1.5 + 0.67×(-0.3)) + (-1.68×(-1.0) + 0.67×(-0.2))] = [-2.7, 1.5]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Calculating </a:t>
            </a:r>
            <a:r>
              <a:rPr lang="en"/>
              <a:t>Attention Scores </a:t>
            </a:r>
            <a:endParaRPr/>
          </a:p>
        </p:txBody>
      </p:sp>
      <p:sp>
        <p:nvSpPr>
          <p:cNvPr id="161" name="Google Shape;161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Score(Let's → Let's) = Q_Let's · K_Let's = [-1.0, 3.7] · [-4.7, 1.9] ≈ 11.7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Score(Let's → go) = Q_Let's · K_go = [-1.0, 3.7] · [1.9, -0.2] ≈ -2.6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Score(go → Let's) = Q_go · K_Let's = [-3.7, 0.6] · [-4.7, 1.9] ≈ 18.5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Score(go → go) = Q_go · K_go = [-3.7, 0.6] · [1.9, -0.2] ≈ -7.2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62" name="Google Shape;162;p28"/>
          <p:cNvGraphicFramePr/>
          <p:nvPr/>
        </p:nvGraphicFramePr>
        <p:xfrm>
          <a:off x="735525" y="3390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{7094710C-030D-4677-A650-F1D908CD37EA}</a:tableStyleId>
              </a:tblPr>
              <a:tblGrid>
                <a:gridCol w="2413000"/>
                <a:gridCol w="2413000"/>
                <a:gridCol w="24130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Let’s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Let’s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11.7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18.5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-2.6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-7.2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63" name="Google Shape;163;p28"/>
          <p:cNvSpPr/>
          <p:nvPr/>
        </p:nvSpPr>
        <p:spPr>
          <a:xfrm>
            <a:off x="4950625" y="3568300"/>
            <a:ext cx="345600" cy="9000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28"/>
          <p:cNvSpPr/>
          <p:nvPr/>
        </p:nvSpPr>
        <p:spPr>
          <a:xfrm>
            <a:off x="7289025" y="3534900"/>
            <a:ext cx="345600" cy="9000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Softmax → Attention Weights (Applied Column Wise)</a:t>
            </a:r>
            <a:endParaRPr/>
          </a:p>
        </p:txBody>
      </p:sp>
      <p:sp>
        <p:nvSpPr>
          <p:cNvPr id="170" name="Google Shape;170;p29"/>
          <p:cNvSpPr txBox="1"/>
          <p:nvPr>
            <p:ph idx="1" type="body"/>
          </p:nvPr>
        </p:nvSpPr>
        <p:spPr>
          <a:xfrm>
            <a:off x="311700" y="1152475"/>
            <a:ext cx="4483500" cy="19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exp(11.7) ≈ 120,571 exp(-2.6) ≈ 0.074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α(Let's→Let's) ≈ 1.0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α(Let's→go) ≈ 0.0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Attention weights for Let's: [1.0, 0.0] </a:t>
            </a:r>
            <a:endParaRPr/>
          </a:p>
        </p:txBody>
      </p:sp>
      <p:sp>
        <p:nvSpPr>
          <p:cNvPr id="171" name="Google Shape;171;p29"/>
          <p:cNvSpPr txBox="1"/>
          <p:nvPr>
            <p:ph idx="1" type="body"/>
          </p:nvPr>
        </p:nvSpPr>
        <p:spPr>
          <a:xfrm>
            <a:off x="4161000" y="2986925"/>
            <a:ext cx="4483500" cy="19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exp(18.5) ≈ 108,048,948 exp(-7.2) ≈ 0.00075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α(go→Let's) ≈ 1.0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α(go→go) ≈ 0.0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Attention weights for Let's: [1.0, 0.0] 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Weighted Sum → Attention Output </a:t>
            </a:r>
            <a:endParaRPr/>
          </a:p>
        </p:txBody>
      </p:sp>
      <p:sp>
        <p:nvSpPr>
          <p:cNvPr id="177" name="Google Shape;177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Output_Let's = α(Let's→Let's)×V_Let's + α(Let's→go)×V_go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                  = 1.0 × [2.5, -2.1] + 0.0 × [-2.7, 1.5]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                  = [2.5, -2.1]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Output_go = α(go→Let's)×V_Let's + α(go→go)×V_go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               = 1.0 × [2.5, -2.1] + 0.0 × [-2.7, 1.5]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                  = [2.5, -2.1] 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Residual Connection </a:t>
            </a:r>
            <a:endParaRPr/>
          </a:p>
        </p:txBody>
      </p:sp>
      <p:sp>
        <p:nvSpPr>
          <p:cNvPr id="183" name="Google Shape;183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</a:rPr>
              <a:t>We </a:t>
            </a:r>
            <a:r>
              <a:rPr b="1" lang="en" sz="2000">
                <a:solidFill>
                  <a:schemeClr val="dk1"/>
                </a:solidFill>
              </a:rPr>
              <a:t>add the original input X back</a:t>
            </a:r>
            <a:r>
              <a:rPr lang="en" sz="2000">
                <a:solidFill>
                  <a:schemeClr val="dk1"/>
                </a:solidFill>
              </a:rPr>
              <a:t> to the attention output 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</a:rPr>
              <a:t>Encoder_Let's = X_Let's + Output_Let's 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</a:rPr>
              <a:t>                       = [1.87, 1.09] + [2.5, -2.1] = [4.37, -1.01] 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</a:rPr>
              <a:t>Encoder_go = X_go + Output_go 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700">
                <a:solidFill>
                  <a:schemeClr val="dk1"/>
                </a:solidFill>
              </a:rPr>
              <a:t>                    = [-1.68, 0.67] + [2.5, -2.1] = [0.82, -1.43] </a:t>
            </a:r>
            <a:endParaRPr sz="1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Encoder outputs </a:t>
            </a:r>
            <a:endParaRPr/>
          </a:p>
        </p:txBody>
      </p:sp>
      <p:sp>
        <p:nvSpPr>
          <p:cNvPr id="189" name="Google Shape;189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E_Let's = [4.37, -1.01] ← context-aware representation of "Let's"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E_go = [0.82, -1.43] ← context-aware representation of "go"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900">
                <a:solidFill>
                  <a:schemeClr val="dk1"/>
                </a:solidFill>
              </a:rPr>
              <a:t>These two vectors are the </a:t>
            </a:r>
            <a:r>
              <a:rPr b="1" lang="en" sz="1900">
                <a:solidFill>
                  <a:schemeClr val="dk1"/>
                </a:solidFill>
              </a:rPr>
              <a:t>encoder memory</a:t>
            </a:r>
            <a:r>
              <a:rPr lang="en" sz="1900">
                <a:solidFill>
                  <a:schemeClr val="dk1"/>
                </a:solidFill>
              </a:rPr>
              <a:t>. They are passed to the decoder at every decoding step via cross-attention. The encoder has finished its job. </a:t>
            </a:r>
            <a:endParaRPr sz="26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Decoder Begin - Masked Self Attention</a:t>
            </a:r>
            <a:endParaRPr/>
          </a:p>
        </p:txBody>
      </p:sp>
      <p:sp>
        <p:nvSpPr>
          <p:cNvPr id="195" name="Google Shape;195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2300">
                <a:solidFill>
                  <a:schemeClr val="dk1"/>
                </a:solidFill>
              </a:rPr>
              <a:t>Why "masked"?</a:t>
            </a:r>
            <a:r>
              <a:rPr lang="en" sz="2300">
                <a:solidFill>
                  <a:schemeClr val="dk1"/>
                </a:solidFill>
              </a:rPr>
              <a:t> During training, all target tokens are provided at once, but the model must not be able to "cheat" by looking at future tokens. A mask is applied to set future positions' scores to -∞ before softmax, making their weights ≈ 0. At inference (generation), only past + current tokens exist anyway, so masking is automatic. </a:t>
            </a:r>
            <a:endParaRPr sz="30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Processing &lt;EOS&gt;</a:t>
            </a:r>
            <a:endParaRPr/>
          </a:p>
        </p:txBody>
      </p:sp>
      <p:sp>
        <p:nvSpPr>
          <p:cNvPr id="201" name="Google Shape;201;p3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EOS embedding: [2.70, -1.34]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Positional encoding (pos=0): [0.0, 1.0]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EOS input = [2.70, -1.34] + [0.0, 1.0] = [2.70, -0.34] 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Decoder Weight Matrices (Different from Encoder’s)</a:t>
            </a:r>
            <a:endParaRPr/>
          </a:p>
        </p:txBody>
      </p:sp>
      <p:sp>
        <p:nvSpPr>
          <p:cNvPr id="207" name="Google Shape;207;p35"/>
          <p:cNvSpPr txBox="1"/>
          <p:nvPr>
            <p:ph idx="1" type="body"/>
          </p:nvPr>
        </p:nvSpPr>
        <p:spPr>
          <a:xfrm>
            <a:off x="311700" y="1152475"/>
            <a:ext cx="8520600" cy="39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W_Q =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W_K =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W_V =  </a:t>
            </a:r>
            <a:r>
              <a:rPr lang="en"/>
              <a:t> </a:t>
            </a:r>
            <a:endParaRPr/>
          </a:p>
        </p:txBody>
      </p:sp>
      <p:graphicFrame>
        <p:nvGraphicFramePr>
          <p:cNvPr id="208" name="Google Shape;208;p35"/>
          <p:cNvGraphicFramePr/>
          <p:nvPr/>
        </p:nvGraphicFramePr>
        <p:xfrm>
          <a:off x="1193600" y="1226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{7094710C-030D-4677-A650-F1D908CD37EA}</a:tableStyleId>
              </a:tblPr>
              <a:tblGrid>
                <a:gridCol w="672725"/>
                <a:gridCol w="672725"/>
              </a:tblGrid>
              <a:tr h="488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000"/>
                        <a:t>0.4</a:t>
                      </a:r>
                      <a:endParaRPr b="1" sz="2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000"/>
                        <a:t>0.4</a:t>
                      </a:r>
                      <a:endParaRPr b="1" sz="2000"/>
                    </a:p>
                  </a:txBody>
                  <a:tcPr marT="91425" marB="91425" marR="91425" marL="91425"/>
                </a:tc>
              </a:tr>
              <a:tr h="488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000"/>
                        <a:t>-0.3</a:t>
                      </a:r>
                      <a:endParaRPr b="1" sz="2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000"/>
                        <a:t>0.1</a:t>
                      </a:r>
                      <a:endParaRPr b="1" sz="20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209" name="Google Shape;209;p35"/>
          <p:cNvGraphicFramePr/>
          <p:nvPr/>
        </p:nvGraphicFramePr>
        <p:xfrm>
          <a:off x="1193600" y="2664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{7094710C-030D-4677-A650-F1D908CD37EA}</a:tableStyleId>
              </a:tblPr>
              <a:tblGrid>
                <a:gridCol w="672725"/>
                <a:gridCol w="672725"/>
              </a:tblGrid>
              <a:tr h="488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000"/>
                        <a:t>0.4</a:t>
                      </a:r>
                      <a:endParaRPr b="1" sz="2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000"/>
                        <a:t>-0.7</a:t>
                      </a:r>
                      <a:endParaRPr b="1" sz="2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8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000"/>
                        <a:t>-0.4</a:t>
                      </a:r>
                      <a:endParaRPr b="1" sz="2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000"/>
                        <a:t>0.3</a:t>
                      </a:r>
                      <a:endParaRPr b="1" sz="2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10" name="Google Shape;210;p35"/>
          <p:cNvGraphicFramePr/>
          <p:nvPr/>
        </p:nvGraphicFramePr>
        <p:xfrm>
          <a:off x="1193600" y="4102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{7094710C-030D-4677-A650-F1D908CD37EA}</a:tableStyleId>
              </a:tblPr>
              <a:tblGrid>
                <a:gridCol w="672725"/>
                <a:gridCol w="672725"/>
              </a:tblGrid>
              <a:tr h="488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000"/>
                        <a:t>-1.1</a:t>
                      </a:r>
                      <a:endParaRPr b="1" sz="2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000"/>
                        <a:t>-0.7</a:t>
                      </a:r>
                      <a:endParaRPr b="1" sz="2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8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000"/>
                        <a:t>-0.4</a:t>
                      </a:r>
                      <a:endParaRPr b="1" sz="2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000"/>
                        <a:t>1</a:t>
                      </a:r>
                      <a:r>
                        <a:rPr b="1" lang="en" sz="2000"/>
                        <a:t>.3</a:t>
                      </a:r>
                      <a:endParaRPr b="1" sz="2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Compute Q, K, V for EOS </a:t>
            </a:r>
            <a:endParaRPr/>
          </a:p>
        </p:txBody>
      </p:sp>
      <p:sp>
        <p:nvSpPr>
          <p:cNvPr id="216" name="Google Shape;216;p3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Q_EOS = [2.70, -0.34] · W_Q = [1.2, 1.0]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K_EOS = [2.70, -0.34] · W_K = [1.2, -1.8]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V_EOS = [2.70, -0.34] · W_V = [-2.8, -2.3] 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Self-Attention Score for EOS </a:t>
            </a:r>
            <a:endParaRPr/>
          </a:p>
        </p:txBody>
      </p:sp>
      <p:sp>
        <p:nvSpPr>
          <p:cNvPr id="222" name="Google Shape;222;p3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Apply Common Sense.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Why need Softmax?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There is just 1 token and you are calculating attention for itself. So, </a:t>
            </a:r>
            <a:r>
              <a:rPr b="1" lang="en"/>
              <a:t>weight = 1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SelfAttn_output_EOS = 1.0 × V_EOS = [-2.8, -2.3]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EOS after residual = EOS_input + SelfAttn_output_EOS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                           = [2.70, -0.34] + [-2.8, -2.3]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                              ≈ [-0.1, -2.6] 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Cross Attention</a:t>
            </a:r>
            <a:endParaRPr/>
          </a:p>
        </p:txBody>
      </p:sp>
      <p:sp>
        <p:nvSpPr>
          <p:cNvPr id="228" name="Google Shape;228;p3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Bridge Between Encoder and Decoder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Cross-attention is where the decoder </a:t>
            </a:r>
            <a:r>
              <a:rPr b="1" lang="en">
                <a:solidFill>
                  <a:schemeClr val="dk1"/>
                </a:solidFill>
              </a:rPr>
              <a:t>looks at the encoder's output</a:t>
            </a:r>
            <a:r>
              <a:rPr lang="en">
                <a:solidFill>
                  <a:schemeClr val="dk1"/>
                </a:solidFill>
              </a:rPr>
              <a:t> to gather information about the source sentence. 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Q ← comes from DECODER (current decoder state) 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K ← comes from ENCODER outputs (encoder memory) 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V ← comes from ENCODER outputs (encoder memory) 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Interpretation of Cross Attention</a:t>
            </a:r>
            <a:endParaRPr/>
          </a:p>
        </p:txBody>
      </p:sp>
      <p:sp>
        <p:nvSpPr>
          <p:cNvPr id="234" name="Google Shape;234;p3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" sz="1900">
                <a:solidFill>
                  <a:schemeClr val="dk1"/>
                </a:solidFill>
              </a:rPr>
              <a:t>The </a:t>
            </a:r>
            <a:r>
              <a:rPr b="1" lang="en" sz="1900">
                <a:solidFill>
                  <a:schemeClr val="dk1"/>
                </a:solidFill>
              </a:rPr>
              <a:t>decoder asks a question</a:t>
            </a:r>
            <a:r>
              <a:rPr lang="en" sz="1900">
                <a:solidFill>
                  <a:schemeClr val="dk1"/>
                </a:solidFill>
              </a:rPr>
              <a:t> (Q): "What from the source sentence do I need to generate my next word?"</a:t>
            </a:r>
            <a:endParaRPr sz="1900">
              <a:solidFill>
                <a:schemeClr val="dk1"/>
              </a:solidFill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" sz="1900">
                <a:solidFill>
                  <a:schemeClr val="dk1"/>
                </a:solidFill>
              </a:rPr>
              <a:t>The </a:t>
            </a:r>
            <a:r>
              <a:rPr b="1" lang="en" sz="1900">
                <a:solidFill>
                  <a:schemeClr val="dk1"/>
                </a:solidFill>
              </a:rPr>
              <a:t>encoder provides answers</a:t>
            </a:r>
            <a:r>
              <a:rPr lang="en" sz="1900">
                <a:solidFill>
                  <a:schemeClr val="dk1"/>
                </a:solidFill>
              </a:rPr>
              <a:t> (K): "Here is what I know about each source word"</a:t>
            </a:r>
            <a:endParaRPr sz="1900">
              <a:solidFill>
                <a:schemeClr val="dk1"/>
              </a:solidFill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" sz="1900">
                <a:solidFill>
                  <a:schemeClr val="dk1"/>
                </a:solidFill>
              </a:rPr>
              <a:t>The </a:t>
            </a:r>
            <a:r>
              <a:rPr b="1" lang="en" sz="1900">
                <a:solidFill>
                  <a:schemeClr val="dk1"/>
                </a:solidFill>
              </a:rPr>
              <a:t>encoder provides content</a:t>
            </a:r>
            <a:r>
              <a:rPr lang="en" sz="1900">
                <a:solidFill>
                  <a:schemeClr val="dk1"/>
                </a:solidFill>
              </a:rPr>
              <a:t> (V): "Here is the actual information from each source word"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/>
              <a:t>Three Separate Weight Matrices (Again!)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40"/>
          <p:cNvSpPr txBox="1"/>
          <p:nvPr>
            <p:ph idx="1" type="body"/>
          </p:nvPr>
        </p:nvSpPr>
        <p:spPr>
          <a:xfrm>
            <a:off x="311700" y="1152475"/>
            <a:ext cx="8520600" cy="39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W_Q =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W_K =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W_V =   </a:t>
            </a:r>
            <a:endParaRPr/>
          </a:p>
        </p:txBody>
      </p:sp>
      <p:graphicFrame>
        <p:nvGraphicFramePr>
          <p:cNvPr id="241" name="Google Shape;241;p40"/>
          <p:cNvGraphicFramePr/>
          <p:nvPr/>
        </p:nvGraphicFramePr>
        <p:xfrm>
          <a:off x="1193600" y="1226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{7094710C-030D-4677-A650-F1D908CD37EA}</a:tableStyleId>
              </a:tblPr>
              <a:tblGrid>
                <a:gridCol w="672725"/>
                <a:gridCol w="672725"/>
              </a:tblGrid>
              <a:tr h="488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000"/>
                        <a:t>1.5</a:t>
                      </a:r>
                      <a:endParaRPr b="1" sz="2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000"/>
                        <a:t>-0.3</a:t>
                      </a:r>
                      <a:endParaRPr b="1" sz="2000"/>
                    </a:p>
                  </a:txBody>
                  <a:tcPr marT="91425" marB="91425" marR="91425" marL="91425"/>
                </a:tc>
              </a:tr>
              <a:tr h="488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000"/>
                        <a:t>0.3</a:t>
                      </a:r>
                      <a:endParaRPr b="1" sz="2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000"/>
                        <a:t>-1.0</a:t>
                      </a:r>
                      <a:endParaRPr b="1" sz="20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242" name="Google Shape;242;p40"/>
          <p:cNvGraphicFramePr/>
          <p:nvPr/>
        </p:nvGraphicFramePr>
        <p:xfrm>
          <a:off x="1193600" y="2664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{7094710C-030D-4677-A650-F1D908CD37EA}</a:tableStyleId>
              </a:tblPr>
              <a:tblGrid>
                <a:gridCol w="672725"/>
                <a:gridCol w="672725"/>
              </a:tblGrid>
              <a:tr h="488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000"/>
                        <a:t>-1.1</a:t>
                      </a:r>
                      <a:endParaRPr b="1" sz="2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000"/>
                        <a:t>0.3</a:t>
                      </a:r>
                      <a:endParaRPr b="1" sz="2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8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000"/>
                        <a:t>-0.3</a:t>
                      </a:r>
                      <a:endParaRPr b="1" sz="2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000"/>
                        <a:t>-0.8</a:t>
                      </a:r>
                      <a:endParaRPr b="1" sz="2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43" name="Google Shape;243;p40"/>
          <p:cNvGraphicFramePr/>
          <p:nvPr/>
        </p:nvGraphicFramePr>
        <p:xfrm>
          <a:off x="1193600" y="4102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{7094710C-030D-4677-A650-F1D908CD37EA}</a:tableStyleId>
              </a:tblPr>
              <a:tblGrid>
                <a:gridCol w="672725"/>
                <a:gridCol w="672725"/>
              </a:tblGrid>
              <a:tr h="488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000"/>
                        <a:t>1.1</a:t>
                      </a:r>
                      <a:endParaRPr b="1" sz="2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000"/>
                        <a:t>0.6</a:t>
                      </a:r>
                      <a:endParaRPr b="1" sz="2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8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000"/>
                        <a:t>-1.2</a:t>
                      </a:r>
                      <a:endParaRPr b="1" sz="2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000"/>
                        <a:t>-0.5</a:t>
                      </a:r>
                      <a:endParaRPr b="1" sz="2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Cross-Attention for EOS </a:t>
            </a:r>
            <a:endParaRPr/>
          </a:p>
        </p:txBody>
      </p:sp>
      <p:sp>
        <p:nvSpPr>
          <p:cNvPr id="249" name="Google Shape;249;p41"/>
          <p:cNvSpPr txBox="1"/>
          <p:nvPr>
            <p:ph idx="1" type="body"/>
          </p:nvPr>
        </p:nvSpPr>
        <p:spPr>
          <a:xfrm>
            <a:off x="311700" y="1152475"/>
            <a:ext cx="8520600" cy="385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</a:rPr>
              <a:t>Input Q:</a:t>
            </a:r>
            <a:r>
              <a:rPr lang="en" sz="1600">
                <a:solidFill>
                  <a:schemeClr val="dk1"/>
                </a:solidFill>
              </a:rPr>
              <a:t> The updated EOS vector from decoder self-attention: </a:t>
            </a:r>
            <a:r>
              <a:rPr b="1" lang="en" sz="16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[-0.1, -2.6]</a:t>
            </a:r>
            <a:r>
              <a:rPr lang="en" sz="1600">
                <a:solidFill>
                  <a:schemeClr val="dk1"/>
                </a:solidFill>
              </a:rPr>
              <a:t> </a:t>
            </a:r>
            <a:r>
              <a:rPr b="1" lang="en" sz="1600">
                <a:solidFill>
                  <a:schemeClr val="dk1"/>
                </a:solidFill>
              </a:rPr>
              <a:t>Input K, V:</a:t>
            </a:r>
            <a:r>
              <a:rPr lang="en" sz="1600">
                <a:solidFill>
                  <a:schemeClr val="dk1"/>
                </a:solidFill>
              </a:rPr>
              <a:t> The encoder outputs: </a:t>
            </a:r>
            <a:r>
              <a:rPr b="1" lang="en" sz="16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E_Let's = [4.37, -1.01]</a:t>
            </a:r>
            <a:r>
              <a:rPr b="1" lang="en" sz="1600">
                <a:solidFill>
                  <a:schemeClr val="dk1"/>
                </a:solidFill>
              </a:rPr>
              <a:t>, </a:t>
            </a:r>
            <a:r>
              <a:rPr b="1" lang="en" sz="16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E_go = [0.82, -1.43]</a:t>
            </a:r>
            <a:r>
              <a:rPr b="1" lang="en" sz="1600">
                <a:solidFill>
                  <a:schemeClr val="dk1"/>
                </a:solidFill>
              </a:rPr>
              <a:t> </a:t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Q_EOS_cross = [-0.1, -2.6] · W_Q_cross 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                       = [(-0.1×1.5 + (-2.6)×0.3 ) + (-0.1×(-0.3) + (-2.6)×(-1.0) )] = [-0.9, 2.6] 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K_Let's_cross = [4.37, -1.01] · W_K_cross 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                       = [(4.37×(-1.1) + (-1.01)×(-0.3) ) + (4.37×0.3 + (-1.01)×(-0.8) )] = [-4.5, 2.1] 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K_go_cross = [0.82, -1.43] · W_K_cross 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                    = [(0.82×(-1.1) + (-1.43)×(-0.3) ) + (0.82×0.3 + (-1.43)×(-0.8) )] = [-0.5, 1.4] </a:t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4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V_Let's_cross = [4.37, -1.01] · W_V_cross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                    = [(4.37×1.1 + (-1.01)×(-1.2) )+(4.37×0.6 + (-1.01)×(-0.5) )]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                    = [6.0, 3.1]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V_go_cross = [0.82, -1.43] · W_V_cross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                 = [(0.82×1.1 + (-1.43)×(-1.2) )+(0.82×0.6 + (-1.43)×(-0.5) )]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                    = [2.6, 1.2] 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Cross-attention scores </a:t>
            </a:r>
            <a:endParaRPr/>
          </a:p>
        </p:txBody>
      </p:sp>
      <p:sp>
        <p:nvSpPr>
          <p:cNvPr id="261" name="Google Shape;261;p4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Score(EOS → Let's) = Q_EOS_cross · K_Let's_cross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                              = [-0.9, 2.6] · [-4.5, 2.1] ≈ 9.5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Score(EOS → go) = Q_EOS_cross · K_go_cross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                           = [-0.9, 2.6] · [-0.5, 1.4] ≈ 4.1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Softmax</a:t>
            </a:r>
            <a:endParaRPr/>
          </a:p>
        </p:txBody>
      </p:sp>
      <p:sp>
        <p:nvSpPr>
          <p:cNvPr id="267" name="Google Shape;267;p4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exp(9.5) ≈ 13,360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exp(4.1) ≈ 60.3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α(EOS→Let's) =0.996 ≈ 1.0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α(EOS→go) = 0.004 ≈ 0.0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&lt;EOS&gt;</a:t>
            </a:r>
            <a:r>
              <a:rPr lang="en">
                <a:solidFill>
                  <a:schemeClr val="dk1"/>
                </a:solidFill>
              </a:rPr>
              <a:t> (the start token) is looking at "Let's" (99.6%) almost exclusively. This makes linguistic sense - the first token generated should relate most strongly to the first word of the source. The cross-attention has learned this. </a:t>
            </a:r>
            <a:endParaRPr sz="250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Cross-attention output + residual</a:t>
            </a:r>
            <a:endParaRPr/>
          </a:p>
        </p:txBody>
      </p:sp>
      <p:sp>
        <p:nvSpPr>
          <p:cNvPr id="273" name="Google Shape;273;p4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CrossAttn_output = 1.0 × </a:t>
            </a:r>
            <a:r>
              <a:rPr lang="en"/>
              <a:t>V_Let's_cross </a:t>
            </a:r>
            <a:r>
              <a:rPr lang="en"/>
              <a:t>+ 0.0 × V_go _cross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                         = 1.0 × [6.0, 3.1] + 0.0 × [2.6, 1.2]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                         = [6.0, 3.1]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EOS_final = EOS_after_self_attn + CrossAttn_output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              = [-0.1, -2.6] + [6.0, 3.1]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                 = [5.9, 0.5] 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Generating "Vamos" from the Dense Layer </a:t>
            </a:r>
            <a:endParaRPr/>
          </a:p>
        </p:txBody>
      </p:sp>
      <p:sp>
        <p:nvSpPr>
          <p:cNvPr id="279" name="Google Shape;279;p46"/>
          <p:cNvSpPr txBox="1"/>
          <p:nvPr>
            <p:ph idx="1" type="body"/>
          </p:nvPr>
        </p:nvSpPr>
        <p:spPr>
          <a:xfrm>
            <a:off x="311700" y="1152475"/>
            <a:ext cx="8520600" cy="376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The final EOS vector </a:t>
            </a:r>
            <a:r>
              <a:rPr b="1" lang="en" sz="1600">
                <a:solidFill>
                  <a:schemeClr val="dk1"/>
                </a:solidFill>
              </a:rPr>
              <a:t>[5.9, 0.5]</a:t>
            </a:r>
            <a:r>
              <a:rPr lang="en" sz="1600">
                <a:solidFill>
                  <a:schemeClr val="dk1"/>
                </a:solidFill>
              </a:rPr>
              <a:t> is fed into a </a:t>
            </a:r>
            <a:r>
              <a:rPr b="1" lang="en" sz="1600">
                <a:solidFill>
                  <a:schemeClr val="dk1"/>
                </a:solidFill>
              </a:rPr>
              <a:t>fully-connected output layer</a:t>
            </a:r>
            <a:r>
              <a:rPr lang="en" sz="1600">
                <a:solidFill>
                  <a:schemeClr val="dk1"/>
                </a:solidFill>
              </a:rPr>
              <a:t> that scores every word in the vocabulary: 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Scores for vocabulary: 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ir → -5.1 + (-0.6) = -5.7 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Vamos → 5.7 + 1.4 = 7.1 ← HIGHEST 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y → -3.6 + (-2.5) = -6.1 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&lt;EOS&gt; → -4.6 + 0.5 = -4.1 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Softmax → select token with highest score → "Vamos" 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The model predicts </a:t>
            </a:r>
            <a:r>
              <a:rPr b="1" lang="en" sz="1600">
                <a:solidFill>
                  <a:schemeClr val="dk1"/>
                </a:solidFill>
              </a:rPr>
              <a:t>"Vamos"</a:t>
            </a:r>
            <a:r>
              <a:rPr lang="en" sz="1600">
                <a:solidFill>
                  <a:schemeClr val="dk1"/>
                </a:solidFill>
              </a:rPr>
              <a:t> as the first output token! </a:t>
            </a:r>
            <a:endParaRPr sz="2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47"/>
          <p:cNvSpPr txBox="1"/>
          <p:nvPr>
            <p:ph type="title"/>
          </p:nvPr>
        </p:nvSpPr>
        <p:spPr>
          <a:xfrm>
            <a:off x="311700" y="445025"/>
            <a:ext cx="8520600" cy="82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GENERATING THE NEXT TOKEN — "Vamos" IN THE DECODER </a:t>
            </a:r>
            <a:endParaRPr/>
          </a:p>
        </p:txBody>
      </p:sp>
      <p:sp>
        <p:nvSpPr>
          <p:cNvPr id="285" name="Google Shape;285;p47"/>
          <p:cNvSpPr txBox="1"/>
          <p:nvPr>
            <p:ph idx="1" type="body"/>
          </p:nvPr>
        </p:nvSpPr>
        <p:spPr>
          <a:xfrm>
            <a:off x="311700" y="1332625"/>
            <a:ext cx="8520600" cy="323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Now "Vamos" is generated. It becomes an input to the decoder alongside </a:t>
            </a:r>
            <a:r>
              <a:rPr lang="en" sz="1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&lt;EOS&gt;</a:t>
            </a:r>
            <a:r>
              <a:rPr lang="en" sz="1500">
                <a:solidFill>
                  <a:schemeClr val="dk1"/>
                </a:solidFill>
              </a:rPr>
              <a:t>. The decoder processes both tokens with </a:t>
            </a:r>
            <a:r>
              <a:rPr b="1" lang="en" sz="1500">
                <a:solidFill>
                  <a:schemeClr val="dk1"/>
                </a:solidFill>
              </a:rPr>
              <a:t>masked</a:t>
            </a:r>
            <a:r>
              <a:rPr lang="en" sz="1500">
                <a:solidFill>
                  <a:schemeClr val="dk1"/>
                </a:solidFill>
              </a:rPr>
              <a:t> self-attention. 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Vamos Input Vector: [-2.601, 2.23] 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Positional encoding (pos=1): [0.841, 0.540] ← same as "go" in encoder 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Vamos input = [</a:t>
            </a:r>
            <a:r>
              <a:rPr lang="en" sz="1500">
                <a:solidFill>
                  <a:schemeClr val="dk1"/>
                </a:solidFill>
              </a:rPr>
              <a:t>-2.601</a:t>
            </a:r>
            <a:r>
              <a:rPr lang="en" sz="1500">
                <a:solidFill>
                  <a:schemeClr val="dk1"/>
                </a:solidFill>
              </a:rPr>
              <a:t>, 2.23] + [</a:t>
            </a:r>
            <a:r>
              <a:rPr lang="en" sz="1500">
                <a:solidFill>
                  <a:schemeClr val="dk1"/>
                </a:solidFill>
              </a:rPr>
              <a:t>0.841, 0.540</a:t>
            </a:r>
            <a:r>
              <a:rPr lang="en" sz="1500">
                <a:solidFill>
                  <a:schemeClr val="dk1"/>
                </a:solidFill>
              </a:rPr>
              <a:t>] = [-1.76, 2.77] </a:t>
            </a:r>
            <a:endParaRPr sz="15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Masked Self-Attention (Vamos sees EOS and itself) </a:t>
            </a:r>
            <a:endParaRPr/>
          </a:p>
        </p:txBody>
      </p:sp>
      <p:sp>
        <p:nvSpPr>
          <p:cNvPr id="291" name="Google Shape;291;p4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Now there are </a:t>
            </a:r>
            <a:r>
              <a:rPr b="1" lang="en" sz="1600">
                <a:solidFill>
                  <a:schemeClr val="dk1"/>
                </a:solidFill>
              </a:rPr>
              <a:t>two</a:t>
            </a:r>
            <a:r>
              <a:rPr lang="en" sz="1600">
                <a:solidFill>
                  <a:schemeClr val="dk1"/>
                </a:solidFill>
              </a:rPr>
              <a:t> decoder tokens: </a:t>
            </a:r>
            <a:r>
              <a:rPr b="1" lang="en" sz="16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&lt;EOS&gt;</a:t>
            </a:r>
            <a:r>
              <a:rPr lang="en" sz="1600">
                <a:solidFill>
                  <a:schemeClr val="dk1"/>
                </a:solidFill>
              </a:rPr>
              <a:t> (pos=0) and </a:t>
            </a:r>
            <a:r>
              <a:rPr b="1" lang="en" sz="16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Vamos</a:t>
            </a:r>
            <a:r>
              <a:rPr b="1" lang="en" sz="1600">
                <a:solidFill>
                  <a:schemeClr val="dk1"/>
                </a:solidFill>
              </a:rPr>
              <a:t> </a:t>
            </a:r>
            <a:r>
              <a:rPr lang="en" sz="1600">
                <a:solidFill>
                  <a:schemeClr val="dk1"/>
                </a:solidFill>
              </a:rPr>
              <a:t>(pos=1).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Vamos can see: itself + EOS. It cannot see any future tokens.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Using the same decoder weight matrices W_Q, W_K, W_V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Q_Vamos = [-0.86, 2.37] · W_Q ≈ [-1.3, -0.1] 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K_Vamos = [-0.86, 2.37] · W_K ≈ [-1.3, 1.3] 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V_Vamos = [-0.86, 2.37] · W_V ≈ [ 0.0, 3.7] 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Q_EOS = [1.2, 1.0] , K_EOS = [1.2, -1.8] , V_EOS = [-2.8, -2.3] </a:t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i="1" lang="en" sz="1600">
                <a:solidFill>
                  <a:schemeClr val="dk1"/>
                </a:solidFill>
              </a:rPr>
              <a:t>All same as before</a:t>
            </a:r>
            <a:endParaRPr b="1" i="1"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Self-Attention Scores for Vamos </a:t>
            </a:r>
            <a:endParaRPr/>
          </a:p>
        </p:txBody>
      </p:sp>
      <p:sp>
        <p:nvSpPr>
          <p:cNvPr id="297" name="Google Shape;297;p4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Score(Vamos → EOS) = Q_Vamos · K_EOS = [-1.3, -0.1] · [1.2, -1.8] ≈ -1.1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Score(Vamos → Vamos) = Q_Vamos · K_Vamos = [-1.3, -0.1] · [-1.3, 1.3] ≈ 1.4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Softmax(-1.1, 1.4):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α(Vamos→EOS) ≈ 0.1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α(Vamos→Vamos) ≈ 0.9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600">
                <a:solidFill>
                  <a:schemeClr val="dk1"/>
                </a:solidFill>
              </a:rPr>
              <a:t>"Vamos" attends 90% to itself and 10% to </a:t>
            </a:r>
            <a:r>
              <a:rPr b="1" lang="en" sz="16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&lt;EOS&gt;</a:t>
            </a:r>
            <a:r>
              <a:rPr b="1" lang="en" sz="1600">
                <a:solidFill>
                  <a:schemeClr val="dk1"/>
                </a:solidFill>
              </a:rPr>
              <a:t>. This means "Vamos" is mostly self-referential - it mostly carries its own identity - but also borrows 10% of </a:t>
            </a:r>
            <a:r>
              <a:rPr b="1" lang="en" sz="16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&lt;EOS&gt;</a:t>
            </a:r>
            <a:r>
              <a:rPr b="1" lang="en" sz="1600">
                <a:solidFill>
                  <a:schemeClr val="dk1"/>
                </a:solidFill>
              </a:rPr>
              <a:t>'s information (the start-of-sequence context). </a:t>
            </a:r>
            <a:endParaRPr b="1" sz="230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Self-attention output + residual </a:t>
            </a:r>
            <a:endParaRPr/>
          </a:p>
        </p:txBody>
      </p:sp>
      <p:sp>
        <p:nvSpPr>
          <p:cNvPr id="303" name="Google Shape;303;p5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SelfAttn_Vamos = 0.1 × V_EOS + 0.9 × V_Vamos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                       = = 0.1 × [-2.8, -2.3] + 0.9 × [0.0, 3.7] = [-0.28, 3.10]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Vamos_after_residual = Vamos_input + SelfAttn_Vamos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                          = [-0.86, 2.37] + [-0.28, 3.10]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                          = [-1.14, 5.47] ≈ [-1.2, 5.5] 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So, after self attention, Vamos_after_self = [-1.2, 5.5]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Cross-Attention for Vamos </a:t>
            </a:r>
            <a:endParaRPr/>
          </a:p>
        </p:txBody>
      </p:sp>
      <p:sp>
        <p:nvSpPr>
          <p:cNvPr id="309" name="Google Shape;309;p5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 from decoder: Vamos_after_self = [-1.2, 5.5]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Q_Vamos_cross = [-1.2, 5.5] · W_Q_cross = [-0.1, -5.1] 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K, V from encoder (same values used for EOS)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K_Let's_cross =[-4.5, 2.1] 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K_go_cross = [-0.5, 1.4] 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V_Let's_corss = [6.0, 3.1] 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V_go_cross = [2.6, 1.2] 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5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Cross-attention scores </a:t>
            </a:r>
            <a:endParaRPr/>
          </a:p>
        </p:txBody>
      </p:sp>
      <p:sp>
        <p:nvSpPr>
          <p:cNvPr id="315" name="Google Shape;315;p5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Score(Vamos → Let's) = Q_Vamos_cross · K_Let's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                                  = [-0.1, -5.1] · [-4.5, 2.1] ≈ -10.3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Score(Vamos → go) = Q_Vamos_cross · K_go </a:t>
            </a:r>
            <a:endParaRPr/>
          </a:p>
          <a:p>
            <a:pPr indent="457200" lvl="0" marL="13716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 = [-0.1, -5.1] · [-0.5, 1.4] ≈ -7.1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Softmax(-10.3, -7.1)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α(Vamos→Let's) ≈ 0.039 ≈ 0.0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α(Vamos→go) ≈ 0.961 ≈ 1.0  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5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Interpretation</a:t>
            </a:r>
            <a:endParaRPr/>
          </a:p>
        </p:txBody>
      </p:sp>
      <p:sp>
        <p:nvSpPr>
          <p:cNvPr id="321" name="Google Shape;321;p5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When EOS was processed, it attended 100% to "Let's". When "Vamos" is processed, it attends 100% to "go"! The model has learned that: 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first output token ("Vamos") maps to the first source token ("Let's")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second output token (to be generated) maps to the second source token ("go") 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5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Cross-attention output + residual</a:t>
            </a:r>
            <a:endParaRPr/>
          </a:p>
        </p:txBody>
      </p:sp>
      <p:sp>
        <p:nvSpPr>
          <p:cNvPr id="327" name="Google Shape;327;p5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CrossAttn_Vamos = 0.0 × V_Let's_cross + 1.0 × V_go_cross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                           = [0, 0] + [2.6, 1.2] = [2.6, 1.2]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Vamos_final = Vamos_after_self + CrossAttn_Vamos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                 = [-1.2, 5.5] + [2.6, 1.2]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                    = [1.4, 6.7] 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5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Generating ‘y’ from dense layer</a:t>
            </a:r>
            <a:endParaRPr/>
          </a:p>
        </p:txBody>
      </p:sp>
      <p:sp>
        <p:nvSpPr>
          <p:cNvPr id="333" name="Google Shape;333;p5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The dense output layer then uses </a:t>
            </a:r>
            <a:r>
              <a:rPr lang="en" sz="16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[1.4, 6.7]</a:t>
            </a:r>
            <a:r>
              <a:rPr lang="en" sz="1600">
                <a:solidFill>
                  <a:schemeClr val="dk1"/>
                </a:solidFill>
              </a:rPr>
              <a:t> to predict the next word → "y" (and). </a:t>
            </a:r>
            <a:endParaRPr sz="230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5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When does Decoder </a:t>
            </a:r>
            <a:r>
              <a:rPr lang="en"/>
              <a:t>generation</a:t>
            </a:r>
            <a:r>
              <a:rPr lang="en"/>
              <a:t> stops</a:t>
            </a:r>
            <a:endParaRPr/>
          </a:p>
        </p:txBody>
      </p:sp>
      <p:sp>
        <p:nvSpPr>
          <p:cNvPr id="339" name="Google Shape;339;p5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100">
                <a:solidFill>
                  <a:schemeClr val="dk1"/>
                </a:solidFill>
              </a:rPr>
              <a:t>The decoder stops when the </a:t>
            </a:r>
            <a:r>
              <a:rPr b="1" lang="en" sz="2100">
                <a:solidFill>
                  <a:schemeClr val="dk1"/>
                </a:solidFill>
              </a:rPr>
              <a:t>dense (output) layer + softmax</a:t>
            </a:r>
            <a:r>
              <a:rPr lang="en" sz="2100">
                <a:solidFill>
                  <a:schemeClr val="dk1"/>
                </a:solidFill>
              </a:rPr>
              <a:t> assigns the highest probability to the </a:t>
            </a:r>
            <a:r>
              <a:rPr b="1" lang="en" sz="21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&lt;EOS&gt;</a:t>
            </a:r>
            <a:r>
              <a:rPr lang="en" sz="2100">
                <a:solidFill>
                  <a:schemeClr val="dk1"/>
                </a:solidFill>
              </a:rPr>
              <a:t> token, and the model selects it as the next token. </a:t>
            </a:r>
            <a:endParaRPr sz="280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5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to explore next</a:t>
            </a:r>
            <a:endParaRPr/>
          </a:p>
        </p:txBody>
      </p:sp>
      <p:sp>
        <p:nvSpPr>
          <p:cNvPr id="345" name="Google Shape;345;p5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Decoder-only architecture (text generation models like chatgpt, gemini - are decoder only)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Multi-Head attention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